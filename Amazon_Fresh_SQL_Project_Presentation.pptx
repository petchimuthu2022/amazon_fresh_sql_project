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0091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8778240" y="548640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841248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5" name="Shape 3"/>
          <p:cNvSpPr/>
          <p:nvPr/>
        </p:nvSpPr>
        <p:spPr>
          <a:xfrm>
            <a:off x="8778240" y="1133856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6" name="Shape 4"/>
          <p:cNvSpPr/>
          <p:nvPr/>
        </p:nvSpPr>
        <p:spPr>
          <a:xfrm>
            <a:off x="9070848" y="548640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7" name="Shape 5"/>
          <p:cNvSpPr/>
          <p:nvPr/>
        </p:nvSpPr>
        <p:spPr>
          <a:xfrm>
            <a:off x="9070848" y="841248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8" name="Shape 6"/>
          <p:cNvSpPr/>
          <p:nvPr/>
        </p:nvSpPr>
        <p:spPr>
          <a:xfrm>
            <a:off x="9070848" y="1133856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9" name="Shape 7"/>
          <p:cNvSpPr/>
          <p:nvPr/>
        </p:nvSpPr>
        <p:spPr>
          <a:xfrm>
            <a:off x="9363456" y="548640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0" name="Shape 8"/>
          <p:cNvSpPr/>
          <p:nvPr/>
        </p:nvSpPr>
        <p:spPr>
          <a:xfrm>
            <a:off x="9363456" y="841248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1" name="Shape 9"/>
          <p:cNvSpPr/>
          <p:nvPr/>
        </p:nvSpPr>
        <p:spPr>
          <a:xfrm>
            <a:off x="9363456" y="1133856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2" name="Shape 10"/>
          <p:cNvSpPr/>
          <p:nvPr/>
        </p:nvSpPr>
        <p:spPr>
          <a:xfrm>
            <a:off x="9656064" y="548640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3" name="Shape 11"/>
          <p:cNvSpPr/>
          <p:nvPr/>
        </p:nvSpPr>
        <p:spPr>
          <a:xfrm>
            <a:off x="9656064" y="841248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4" name="Shape 12"/>
          <p:cNvSpPr/>
          <p:nvPr/>
        </p:nvSpPr>
        <p:spPr>
          <a:xfrm>
            <a:off x="9656064" y="1133856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5" name="Shape 13"/>
          <p:cNvSpPr/>
          <p:nvPr/>
        </p:nvSpPr>
        <p:spPr>
          <a:xfrm>
            <a:off x="9948672" y="548640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6" name="Shape 14"/>
          <p:cNvSpPr/>
          <p:nvPr/>
        </p:nvSpPr>
        <p:spPr>
          <a:xfrm>
            <a:off x="9948672" y="841248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7" name="Shape 15"/>
          <p:cNvSpPr/>
          <p:nvPr/>
        </p:nvSpPr>
        <p:spPr>
          <a:xfrm>
            <a:off x="9948672" y="1133856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0241280" y="548640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19" name="Shape 17"/>
          <p:cNvSpPr/>
          <p:nvPr/>
        </p:nvSpPr>
        <p:spPr>
          <a:xfrm>
            <a:off x="10241280" y="841248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0241280" y="1133856"/>
            <a:ext cx="54864" cy="54864"/>
          </a:xfrm>
          <a:prstGeom prst="ellipse">
            <a:avLst/>
          </a:prstGeom>
          <a:solidFill>
            <a:srgbClr val="FF9900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2331720"/>
            <a:ext cx="2286000" cy="457200"/>
          </a:xfrm>
          <a:prstGeom prst="roundRect">
            <a:avLst>
              <a:gd name="adj" fmla="val 16000"/>
            </a:avLst>
          </a:prstGeom>
          <a:solidFill>
            <a:srgbClr val="FF9900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2331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PROJECT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288036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Amazon Fresh Analytics</a:t>
            </a:r>
            <a:endParaRPr lang="en-US" sz="4400" dirty="0"/>
          </a:p>
        </p:txBody>
      </p:sp>
      <p:sp>
        <p:nvSpPr>
          <p:cNvPr id="24" name="Text 22"/>
          <p:cNvSpPr/>
          <p:nvPr/>
        </p:nvSpPr>
        <p:spPr>
          <a:xfrm>
            <a:off x="640080" y="37947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Relational Database Design, SQL Implementation &amp; Business Insights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40080" y="5852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Petchimuthu 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9FB0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Analytics Project Submission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FFE8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3035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 normalized relational database for Amazon Fresh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customers, orders, products, suppliers, reviews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SQL across DDL, DML, joins, aggregation &amp; subqueries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9776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GOALS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297680"/>
            <a:ext cx="5303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customer behavior and spending patterns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and manage inventory across suppliers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revenue and sales performance reports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63640" y="1600200"/>
            <a:ext cx="5440680" cy="4526280"/>
          </a:xfrm>
          <a:prstGeom prst="roundRect">
            <a:avLst>
              <a:gd name="adj" fmla="val 2020"/>
            </a:avLst>
          </a:prstGeom>
          <a:solidFill>
            <a:srgbClr val="F5F7FA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653796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Tables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0" y="192024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9144000" y="27889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Tasks Completed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537960" y="3840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3NF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537960" y="4709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Level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144000" y="38404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99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15+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9144000" y="4709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 Written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Fresh Analytics  |  SQL Project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FFE8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SCHEMA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Design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18470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32F3E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34440" y="17922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1762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(PK), Name, City, Age, PrimeMember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80760" y="164592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1847088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32F3E"/>
          </a:solidFill>
          <a:ln/>
        </p:spPr>
      </p:sp>
      <p:sp>
        <p:nvSpPr>
          <p:cNvPr id="12" name="Text 10"/>
          <p:cNvSpPr/>
          <p:nvPr/>
        </p:nvSpPr>
        <p:spPr>
          <a:xfrm>
            <a:off x="6309360" y="18470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1792224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858000" y="2176272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ProductID (PK), ProductName, Category, Price, Stock, SupplierID (FK)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218688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85800" y="34198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68580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234440" y="33649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34440" y="3749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SupplierID (PK), SupplierName, City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080760" y="3218688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3419856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32F3E"/>
          </a:solidFill>
          <a:ln/>
        </p:spPr>
      </p:sp>
      <p:sp>
        <p:nvSpPr>
          <p:cNvPr id="22" name="Text 20"/>
          <p:cNvSpPr/>
          <p:nvPr/>
        </p:nvSpPr>
        <p:spPr>
          <a:xfrm>
            <a:off x="6309360" y="34198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858000" y="33649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858000" y="3749040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 (PK), CustomerID (FK), OrderDate, OrderAmount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57200" y="4791456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85800" y="49926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32F3E"/>
          </a:solidFill>
          <a:ln/>
        </p:spPr>
      </p:sp>
      <p:sp>
        <p:nvSpPr>
          <p:cNvPr id="27" name="Text 25"/>
          <p:cNvSpPr/>
          <p:nvPr/>
        </p:nvSpPr>
        <p:spPr>
          <a:xfrm>
            <a:off x="685800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234440" y="4937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Order_Details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234440" y="532180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 (FK), ProductID (FK), Quantity, UnitPrice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080760" y="4791456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F5F7FA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309360" y="4992624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232F3E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49926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858000" y="493776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6858000" y="5321808"/>
            <a:ext cx="4434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ReviewID (PK), ProductID (FK), Rating, Comment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Fresh Analytics  |  SQL Project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FFE8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Basic Data Retrieval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51206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Retrieve all customers from a specific city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all products under the “Fruits” category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5120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filtered SELECT statements are the foundation for building city-wise customer views and category-wise product catalogs used across the app.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1554480"/>
            <a:ext cx="5715000" cy="2743200"/>
          </a:xfrm>
          <a:prstGeom prst="roundRect">
            <a:avLst>
              <a:gd name="adj" fmla="val 2667"/>
            </a:avLst>
          </a:prstGeom>
          <a:solidFill>
            <a:srgbClr val="1620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0488" y="170078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6391656" y="17007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92824" y="170078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938528"/>
            <a:ext cx="52578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City = 'South James';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products</a:t>
            </a:r>
            <a:endParaRPr lang="en-US" sz="13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Category = 'Fruits';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Fresh Analytics  |  SQL Project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FFE8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DDL — Customers Table Constraints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 as the primary key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cannot be null and must be greater than 18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constraint on Name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520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CONSTRAINTS APPLIED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840480"/>
            <a:ext cx="51206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KEY → CustomerID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→ Name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NULL + CHECK(Age &gt; 18) → Age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1554480"/>
            <a:ext cx="5715000" cy="3931920"/>
          </a:xfrm>
          <a:prstGeom prst="roundRect">
            <a:avLst>
              <a:gd name="adj" fmla="val 1860"/>
            </a:avLst>
          </a:prstGeom>
          <a:solidFill>
            <a:srgbClr val="1620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0488" y="170078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6391656" y="17007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92824" y="170078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938528"/>
            <a:ext cx="52578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Customers (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CustomerID  INT PRIMARY KEY,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Name        VARCHAR(100) UNIQUE,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City        VARCHAR(50),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Age         INT NOT NULL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CHECK (Age &gt; 18),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PrimeMember VARCHAR(10)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Fresh Analytics  |  SQL Project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FFE8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 — Inserting New Products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5120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3 new rows into the Products table using INSERT statements.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6974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ADDED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017520"/>
          <a:ext cx="5120640" cy="146304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32F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Dairy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 Juice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Beverages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Brown Bread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Bakery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32F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89320" y="1554480"/>
            <a:ext cx="5715000" cy="3931920"/>
          </a:xfrm>
          <a:prstGeom prst="roundRect">
            <a:avLst>
              <a:gd name="adj" fmla="val 1860"/>
            </a:avLst>
          </a:prstGeom>
          <a:solidFill>
            <a:srgbClr val="1620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90488" y="170078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6391656" y="17007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6592824" y="170078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0"/>
          <p:cNvSpPr/>
          <p:nvPr/>
        </p:nvSpPr>
        <p:spPr>
          <a:xfrm>
            <a:off x="6217920" y="1938528"/>
            <a:ext cx="52578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INSERT INTO products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(ProductID, ProductName, Category,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Subcategory, PricePerUnit,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StockQuantity, SupplierID)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(201,'Milk','Dairy',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'Fresh Milk',60,100,1),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(202,'Apple Juice','Beverages',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'Juice',120,80,2),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(203,'Brown Bread','Bakery',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'Bread',45,150,3);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Fresh Analytics  |  SQL Project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FFE8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&amp; 7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DML — Update &amp; Delete Records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6 — UPDATE STOCK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the stock quantity of a product where ProductID matches a specific ID.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57200" y="2788920"/>
            <a:ext cx="5349240" cy="1051560"/>
          </a:xfrm>
          <a:prstGeom prst="roundRect">
            <a:avLst>
              <a:gd name="adj" fmla="val 6957"/>
            </a:avLst>
          </a:prstGeom>
          <a:solidFill>
            <a:srgbClr val="1620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293522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" y="29352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60704" y="293522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172968"/>
            <a:ext cx="4892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products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SET StockQuantity = 250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ProductID = 201;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7200" y="41148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7 — DELETE SUPPLIER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44348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a supplier from the Suppliers table where their SupplierID matches a specific value.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5303520"/>
            <a:ext cx="5349240" cy="868680"/>
          </a:xfrm>
          <a:prstGeom prst="roundRect">
            <a:avLst>
              <a:gd name="adj" fmla="val 8421"/>
            </a:avLst>
          </a:prstGeom>
          <a:solidFill>
            <a:srgbClr val="1620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58368" y="544982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6" name="Shape 14"/>
          <p:cNvSpPr/>
          <p:nvPr/>
        </p:nvSpPr>
        <p:spPr>
          <a:xfrm>
            <a:off x="859536" y="544982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60704" y="544982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56875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FROM suppliers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SupplierID = 10;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26480" y="1600200"/>
            <a:ext cx="5577840" cy="4572000"/>
          </a:xfrm>
          <a:prstGeom prst="roundRect">
            <a:avLst>
              <a:gd name="adj" fmla="val 2000"/>
            </a:avLst>
          </a:prstGeom>
          <a:solidFill>
            <a:srgbClr val="F5F7FA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UPDATE &amp; DELETE matter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400800" y="2286000"/>
            <a:ext cx="50292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keeps live inventory levels accurate after restocking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WHERE clauses prevent unintended row changes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removes stale or inactive supplier records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operations respect existing FK relationships to Products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Fresh Analytics  |  SQL Project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FFE8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Constraints — CHECK &amp; DEFAULT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constraint: Reviews rating must be between 1 and 5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constraint: PrimeMember defaults to 'No'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INTEGRITY IMPACT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703320"/>
            <a:ext cx="521208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Prevents out-of-range or invalid ratings from entering Reviews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customers are automatically non-Prime unless specified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need for application-side validation logic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989320" y="1554480"/>
            <a:ext cx="5715000" cy="3931920"/>
          </a:xfrm>
          <a:prstGeom prst="roundRect">
            <a:avLst>
              <a:gd name="adj" fmla="val 1860"/>
            </a:avLst>
          </a:prstGeom>
          <a:solidFill>
            <a:srgbClr val="1620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0488" y="170078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6391656" y="17007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92824" y="170078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938528"/>
            <a:ext cx="52578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Reviews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CONSTRAINT chk_rating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CHECK (Rating BETWEEN 1 AND 5);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Customers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MODIFY PrimeMember VARCHAR(10)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DEFAULT 'No';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Fresh Analytics  |  SQL Project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FFE8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Filtering &amp; Aggregation Basics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1247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clause — orders placed after 2024-01-01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HAVING clause — products with average rating greater than 4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BY + ORDER BY — rank products by total sales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063240"/>
            <a:ext cx="5532120" cy="3337560"/>
          </a:xfrm>
          <a:prstGeom prst="roundRect">
            <a:avLst>
              <a:gd name="adj" fmla="val 2192"/>
            </a:avLst>
          </a:prstGeom>
          <a:solidFill>
            <a:srgbClr val="1620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320954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" y="320954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60704" y="320954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447288"/>
            <a:ext cx="5074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Orders after a date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Orders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OrderDate &gt; '2024-01-01';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Avg rating &gt; 4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ProductID,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AVG(Rating) AS AverageRating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Reviews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ProductID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AVG(Rating) &gt; 4;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3063240"/>
            <a:ext cx="5532120" cy="3337560"/>
          </a:xfrm>
          <a:prstGeom prst="roundRect">
            <a:avLst>
              <a:gd name="adj" fmla="val 2192"/>
            </a:avLst>
          </a:prstGeom>
          <a:solidFill>
            <a:srgbClr val="1620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73368" y="320954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4536" y="320954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75704" y="320954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447288"/>
            <a:ext cx="50749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Rank products by sales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ProductID,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SUM(unitprice) AS TotalSales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Order_Details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ProductID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TotalSales DESC;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Fresh Analytics  |  SQL Project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FFE8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 — JOINS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Revenue per Order &amp; High-Value Customers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1620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58368" y="174650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7" name="Shape 5"/>
          <p:cNvSpPr/>
          <p:nvPr/>
        </p:nvSpPr>
        <p:spPr>
          <a:xfrm>
            <a:off x="859536" y="174650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8" name="Shape 6"/>
          <p:cNvSpPr/>
          <p:nvPr/>
        </p:nvSpPr>
        <p:spPr>
          <a:xfrm>
            <a:off x="1060704" y="174650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84248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High-value customers (&gt;5000)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c.CustomerID, c.Name,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SUM(o.orderAmount) AS TotalSpending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 c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Orders o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c.CustomerID = o.CustomerID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c.CustomerID, c.Name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HAVING SUM(o.orderAmount) &gt; 5000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TotalSpending DESC;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600200"/>
            <a:ext cx="5532120" cy="2331720"/>
          </a:xfrm>
          <a:prstGeom prst="roundRect">
            <a:avLst>
              <a:gd name="adj" fmla="val 3137"/>
            </a:avLst>
          </a:prstGeom>
          <a:solidFill>
            <a:srgbClr val="1620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73368" y="174650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2" name="Shape 10"/>
          <p:cNvSpPr/>
          <p:nvPr/>
        </p:nvSpPr>
        <p:spPr>
          <a:xfrm>
            <a:off x="6574536" y="174650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3" name="Shape 11"/>
          <p:cNvSpPr/>
          <p:nvPr/>
        </p:nvSpPr>
        <p:spPr>
          <a:xfrm>
            <a:off x="6775704" y="174650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1984248"/>
            <a:ext cx="5074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Revenue per order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o.OrderID,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SUM(od.UnitPrice * od.quantity)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 TotalRevenue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 o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Order_Details od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o.OrderID = od.OrderID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o.OrderID;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4160520"/>
            <a:ext cx="11247120" cy="2011680"/>
          </a:xfrm>
          <a:prstGeom prst="roundRect">
            <a:avLst>
              <a:gd name="adj" fmla="val 4545"/>
            </a:avLst>
          </a:prstGeom>
          <a:solidFill>
            <a:srgbClr val="F5F7FA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43434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31520" y="4709160"/>
            <a:ext cx="10698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Joining Customers with Orders isolates top spenders for loyalty targeting, while joining Orders with Order_Details converts unit-level line items into a per-order revenue figure — the core building block for all downstream sales reporting.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Fresh Analytics  |  SQL Project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FFE8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9 — MORE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 Frequency &amp; Supplier Stock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FREQUENT CUSTOMERS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532120" cy="1600200"/>
          </a:xfrm>
          <a:prstGeom prst="roundRect">
            <a:avLst>
              <a:gd name="adj" fmla="val 4571"/>
            </a:avLst>
          </a:prstGeom>
          <a:solidFill>
            <a:srgbClr val="1620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06654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206654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206654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04288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CustomerID,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COUNT(OrderID) AS OrdersPlaced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CustomerID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OrdersPlaced DESC;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74904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WITH MOST STOCK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69080"/>
            <a:ext cx="5532120" cy="1600200"/>
          </a:xfrm>
          <a:prstGeom prst="roundRect">
            <a:avLst>
              <a:gd name="adj" fmla="val 4571"/>
            </a:avLst>
          </a:prstGeom>
          <a:solidFill>
            <a:srgbClr val="1620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421538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859536" y="42153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0704" y="421538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453128"/>
            <a:ext cx="5074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SupplierID,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SUM(StockQuantity) AS TotalStock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Products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SupplierID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TotalStock DESC LIMIT 1;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72200" y="1600200"/>
            <a:ext cx="5532120" cy="4069080"/>
          </a:xfrm>
          <a:prstGeom prst="roundRect">
            <a:avLst>
              <a:gd name="adj" fmla="val 2247"/>
            </a:avLst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these answer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2286000"/>
            <a:ext cx="502920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COUNT(OrderID) per CustomerID surfaces the most engaged, repeat shoppers for retention campaigns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SUM(StockQuantity) per SupplierID ranks suppliers by inventory volume, highlighting the primary stock partner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1 returns only the top supplier, keeping the report focused and actionable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Fresh Analytics  |  SQL Project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FFE8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Normalizing Products to 3NF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52120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product categories &amp; subcategories into a new table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foreign keys to maintain relationships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→ AFTER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520440"/>
            <a:ext cx="521208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Before: Category &amp; Subcategory repeated in every product row (redundancy)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After: Categories table holds each category once; Products references it via CategoryID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transitive dependency → satisfies 3NF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89320" y="1554480"/>
            <a:ext cx="5715000" cy="3931920"/>
          </a:xfrm>
          <a:prstGeom prst="roundRect">
            <a:avLst>
              <a:gd name="adj" fmla="val 1860"/>
            </a:avLst>
          </a:prstGeom>
          <a:solidFill>
            <a:srgbClr val="1620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190488" y="170078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9"/>
          <p:cNvSpPr/>
          <p:nvPr/>
        </p:nvSpPr>
        <p:spPr>
          <a:xfrm>
            <a:off x="6391656" y="17007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10"/>
          <p:cNvSpPr/>
          <p:nvPr/>
        </p:nvSpPr>
        <p:spPr>
          <a:xfrm>
            <a:off x="6592824" y="170078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1938528"/>
            <a:ext cx="525780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 TABLE Categories (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CategoryID   INT PRIMARY KEY,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CategoryName VARCHAR(50),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SubCategory  VARCHAR(50)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Products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CategoryID INT;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ALTER TABLE Products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ADD CONSTRAINT fk_category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FOREIGN KEY (CategoryID)</a:t>
            </a:r>
            <a:endParaRPr lang="en-US" sz="12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REFERENCES Categories(CategoryID);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Fresh Analytics  |  SQL Project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FFE8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13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Subqueries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5544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124712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the top 3 products based on sales revenue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customers who haven’t placed any orders yet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926080"/>
            <a:ext cx="5532120" cy="1920240"/>
          </a:xfrm>
          <a:prstGeom prst="roundRect">
            <a:avLst>
              <a:gd name="adj" fmla="val 3810"/>
            </a:avLst>
          </a:prstGeom>
          <a:solidFill>
            <a:srgbClr val="1620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58368" y="307238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59536" y="30723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60704" y="307238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3310128"/>
            <a:ext cx="5074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Top 3 products by revenue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ProductID,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SUM(unitprice) AS Revenue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Order_Details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ProductID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Revenue DESC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 3;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172200" y="2926080"/>
            <a:ext cx="5532120" cy="1920240"/>
          </a:xfrm>
          <a:prstGeom prst="roundRect">
            <a:avLst>
              <a:gd name="adj" fmla="val 3810"/>
            </a:avLst>
          </a:prstGeom>
          <a:solidFill>
            <a:srgbClr val="1620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373368" y="307238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6574536" y="307238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6775704" y="307238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0" y="3310128"/>
            <a:ext cx="5074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 Customers with no orders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* FROM Customers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CustomerID NOT IN (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 CustomerID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FROM Orders</a:t>
            </a:r>
            <a:endParaRPr lang="en-US" sz="12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);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57200" y="5029200"/>
            <a:ext cx="11247120" cy="1188720"/>
          </a:xfrm>
          <a:prstGeom prst="roundRect">
            <a:avLst>
              <a:gd name="adj" fmla="val 7692"/>
            </a:avLst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521208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NOT IN subquery filters the outer Customers query against the full set of CustomerIDs already present in Orders, isolating customers who have never checked out — a direct input to re-engagement campaigns.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Fresh Analytics  |  SQL Project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FFE8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14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Business Insights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— PRIME MEMBER CONCENTRATION BY CITY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920240"/>
            <a:ext cx="5532120" cy="1645920"/>
          </a:xfrm>
          <a:prstGeom prst="roundRect">
            <a:avLst>
              <a:gd name="adj" fmla="val 4444"/>
            </a:avLst>
          </a:prstGeom>
          <a:solidFill>
            <a:srgbClr val="1620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58368" y="206654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8" name="Shape 6"/>
          <p:cNvSpPr/>
          <p:nvPr/>
        </p:nvSpPr>
        <p:spPr>
          <a:xfrm>
            <a:off x="859536" y="206654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9" name="Shape 7"/>
          <p:cNvSpPr/>
          <p:nvPr/>
        </p:nvSpPr>
        <p:spPr>
          <a:xfrm>
            <a:off x="1060704" y="206654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304288"/>
            <a:ext cx="5074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City,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PrimeMembers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Customers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PrimeMember = 'Yes'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City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PrimeMembers DESC;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57200" y="379476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— TOP 3 MOST-ORDERED CATEGORIES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114800"/>
            <a:ext cx="5532120" cy="1874520"/>
          </a:xfrm>
          <a:prstGeom prst="roundRect">
            <a:avLst>
              <a:gd name="adj" fmla="val 3902"/>
            </a:avLst>
          </a:prstGeom>
          <a:solidFill>
            <a:srgbClr val="16202B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58368" y="4261104"/>
            <a:ext cx="100584" cy="100584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4" name="Shape 12"/>
          <p:cNvSpPr/>
          <p:nvPr/>
        </p:nvSpPr>
        <p:spPr>
          <a:xfrm>
            <a:off x="859536" y="4261104"/>
            <a:ext cx="100584" cy="100584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5" name="Shape 13"/>
          <p:cNvSpPr/>
          <p:nvPr/>
        </p:nvSpPr>
        <p:spPr>
          <a:xfrm>
            <a:off x="1060704" y="4261104"/>
            <a:ext cx="100584" cy="100584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4498848"/>
            <a:ext cx="5074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SELECT p.Category,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COUNT(*) AS TotalOrders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Order_Details od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JOIN Products p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ON od.ProductID = p.ProductID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 BY p.Category</a:t>
            </a:r>
            <a:endParaRPr lang="en-US" sz="115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E8EE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BY TotalOrders DESC LIMIT 3;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72200" y="1600200"/>
            <a:ext cx="5532120" cy="4389120"/>
          </a:xfrm>
          <a:prstGeom prst="roundRect">
            <a:avLst>
              <a:gd name="adj" fmla="val 2083"/>
            </a:avLst>
          </a:prstGeom>
          <a:solidFill>
            <a:srgbClr val="F5F7FA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182880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these drive decisions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46520" y="2286000"/>
            <a:ext cx="502920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Prime concentration guides where to focus Prime membership promotions and same-day delivery hubs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Top-ordered categories reveal core demand — useful for supplier negotiation and shelf-space (catalog) prioritization</a:t>
            </a:r>
            <a:endParaRPr lang="en-US" sz="1350" dirty="0"/>
          </a:p>
          <a:p>
            <a:pPr marL="342900" indent="-342900">
              <a:buSzPct val="100000"/>
              <a:buChar char="•"/>
            </a:pPr>
            <a:r>
              <a:rPr lang="en-US" sz="13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queries can be scheduled as recurring reports for merchandising teams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Fresh Analytics  |  SQL Project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1417320" cy="329184"/>
          </a:xfrm>
          <a:prstGeom prst="roundRect">
            <a:avLst>
              <a:gd name="adj" fmla="val 16667"/>
            </a:avLst>
          </a:prstGeom>
          <a:solidFill>
            <a:srgbClr val="FFE8C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84048"/>
            <a:ext cx="1417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8A4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457200" y="804672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F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&amp; Key Learnings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53949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normalized (3NF) relational schema across 6+ tables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project tasks completed with validated SQL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business reports for revenue, inventory &amp; customers</a:t>
            </a:r>
            <a:endParaRPr lang="en-US" sz="1450" dirty="0"/>
          </a:p>
          <a:p>
            <a:pPr marL="342900" indent="-342900">
              <a:buSzPct val="100000"/>
              <a:buChar char="•"/>
            </a:pPr>
            <a:r>
              <a:rPr lang="en-US" sz="145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data integrity via PK/FK/CHECK/DEFAULT constraints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6309360" y="160020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7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DEMONSTRATED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309360" y="196596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Fundamentals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9052560" y="1965960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/>
        </p:spPr>
      </p:sp>
      <p:sp>
        <p:nvSpPr>
          <p:cNvPr id="11" name="Text 9"/>
          <p:cNvSpPr/>
          <p:nvPr/>
        </p:nvSpPr>
        <p:spPr>
          <a:xfrm>
            <a:off x="9052560" y="1965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DDL &amp; Constraints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09360" y="2587752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25877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DML Operations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9052560" y="2587752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/>
        </p:spPr>
      </p:sp>
      <p:sp>
        <p:nvSpPr>
          <p:cNvPr id="15" name="Text 13"/>
          <p:cNvSpPr/>
          <p:nvPr/>
        </p:nvSpPr>
        <p:spPr>
          <a:xfrm>
            <a:off x="9052560" y="258775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309360" y="3209544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32095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&amp; HAVING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9052560" y="3209544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/>
        </p:spPr>
      </p:sp>
      <p:sp>
        <p:nvSpPr>
          <p:cNvPr id="19" name="Text 17"/>
          <p:cNvSpPr/>
          <p:nvPr/>
        </p:nvSpPr>
        <p:spPr>
          <a:xfrm>
            <a:off x="9052560" y="3209544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Subqueries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309360" y="3831336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38313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(3NF)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052560" y="3831336"/>
            <a:ext cx="2560320" cy="457200"/>
          </a:xfrm>
          <a:prstGeom prst="roundRect">
            <a:avLst>
              <a:gd name="adj" fmla="val 50000"/>
            </a:avLst>
          </a:prstGeom>
          <a:solidFill>
            <a:srgbClr val="232F3E"/>
          </a:solidFill>
          <a:ln/>
        </p:spPr>
      </p:sp>
      <p:sp>
        <p:nvSpPr>
          <p:cNvPr id="23" name="Text 21"/>
          <p:cNvSpPr/>
          <p:nvPr/>
        </p:nvSpPr>
        <p:spPr>
          <a:xfrm>
            <a:off x="9052560" y="3831336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Analytics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Fresh Analytics  |  SQL Project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922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32F3E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2468880"/>
            <a:ext cx="1463040" cy="411480"/>
          </a:xfrm>
          <a:prstGeom prst="roundRect">
            <a:avLst>
              <a:gd name="adj" fmla="val 17778"/>
            </a:avLst>
          </a:prstGeom>
          <a:solidFill>
            <a:srgbClr val="FF99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2468880"/>
            <a:ext cx="1463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232F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05394" y="3082834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7D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Fresh Analytics — SQL Project  |  Petchimuthu N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1518</Words>
  <Application>Microsoft Office PowerPoint</Application>
  <PresentationFormat>Widescreen</PresentationFormat>
  <Paragraphs>322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Amazon Fresh Analytics - SQL Project Documentation</dc:title>
  <dc:subject>PptxGenJS Presentation</dc:subject>
  <dc:creator>Petchimuthu A</dc:creator>
  <cp:lastModifiedBy>Petchimuthu N</cp:lastModifiedBy>
  <cp:revision>2</cp:revision>
  <dcterms:created xsi:type="dcterms:W3CDTF">2026-07-08T05:57:56Z</dcterms:created>
  <dcterms:modified xsi:type="dcterms:W3CDTF">2026-07-08T06:05:49Z</dcterms:modified>
</cp:coreProperties>
</file>